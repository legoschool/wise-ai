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AI의 결과에 담긴 치우침을 찾고, 그 까닭을 데이터에서 찾아봅시다.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‘의사’와 ‘간호사’를 그려 달라고 했더니 이런 그림이 나왔습니다. 무엇이 보이나요?</a:t>
            </a:r>
          </a:p>
          <a:p>
            <a:r>
              <a:t>  · 의사는 남자, 간호사는 여자만 나왔습니다.</a:t>
            </a:r>
          </a:p>
          <a:p>
            <a:r>
              <a:t>- AI는 왜 이렇게 그렸을까요?</a:t>
            </a:r>
          </a:p>
          <a:p>
            <a:r>
              <a:t>  · 그런 사진을 더 많이 보고 배웠기 때문인 것 같습니다.</a:t>
            </a:r>
          </a:p>
          <a:p/>
          <a:p>
            <a:r>
              <a:t>준비물</a:t>
            </a:r>
          </a:p>
          <a:p>
            <a:r>
              <a:t>☆ 생성형 이미지·번역 도구(교사 시연)</a:t>
            </a:r>
          </a:p>
          <a:p>
            <a:r>
              <a:t>★ 학습문제 PPT</a:t>
            </a:r>
          </a:p>
          <a:p>
            <a:r>
              <a:t>△ 특정 성별·직업·나라를 비하하는 표현이 나오지 않게 사전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편향 사례 관찰하기</a:t>
            </a:r>
          </a:p>
          <a:p>
            <a:r>
              <a:t>- 그림과 번역 결과를 보고 치우쳐 보이는 곳에 표시해 봅시다.</a:t>
            </a:r>
          </a:p>
          <a:p>
            <a:r>
              <a:t>  · 직업에 따라 나오는 사람의 모습이 정해져 있습니다.</a:t>
            </a:r>
          </a:p>
          <a:p>
            <a:r>
              <a:t>- 번역기에서 성별이 없는 말을 옮기면 어떻게 되나요?</a:t>
            </a:r>
          </a:p>
          <a:p>
            <a:r>
              <a:t>  · ‘그’로만 바뀌었습니다.</a:t>
            </a:r>
          </a:p>
          <a:p/>
          <a:p>
            <a:r>
              <a:t>준비물·유의점</a:t>
            </a:r>
          </a:p>
          <a:p>
            <a:r>
              <a:t>★ 편향 관찰 카드</a:t>
            </a:r>
          </a:p>
          <a:p>
            <a:r>
              <a:t>★ 웹앱 편향 관찰 갤러리</a:t>
            </a:r>
          </a:p>
          <a:p>
            <a:r>
              <a:t>△ 결과를 비웃는 분위기가 되지 않도록 지도</a:t>
            </a:r>
          </a:p>
          <a:p>
            <a:r>
              <a:t>△ 원인을 사람과 데이터로 되돌리는 발문에 집중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원인을 데이터에서 찾기</a:t>
            </a:r>
          </a:p>
          <a:p>
            <a:r>
              <a:t>- 1차시에서 데이터를 줄였을 때 무슨 일이 있었는지 떠올려 봅시다.</a:t>
            </a:r>
          </a:p>
          <a:p>
            <a:r>
              <a:t>  · 적게 배운 쪽을 자주 틀렸습니다.</a:t>
            </a:r>
          </a:p>
          <a:p>
            <a:r>
              <a:t>- 그렇다면 이 편향의 원인은 무엇일까요?</a:t>
            </a:r>
          </a:p>
          <a:p>
            <a:r>
              <a:t>  · 사람들이 모아 준 데이터가 이미 한쪽으로 치우쳐 있었기 때문입니다.</a:t>
            </a:r>
          </a:p>
          <a:p/>
          <a:p>
            <a:r>
              <a:t>준비물·유의점</a:t>
            </a:r>
          </a:p>
          <a:p>
            <a:r>
              <a:t>★ 편향 관찰 카드</a:t>
            </a:r>
          </a:p>
          <a:p>
            <a:r>
              <a:t>★ 웹앱 편향 관찰 갤러리</a:t>
            </a:r>
          </a:p>
          <a:p>
            <a:r>
              <a:t>△ 결과를 비웃는 분위기가 되지 않도록 지도</a:t>
            </a:r>
          </a:p>
          <a:p>
            <a:r>
              <a:t>△ 원인을 사람과 데이터로 되돌리는 발문에 집중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누가 불편해질까</a:t>
            </a:r>
          </a:p>
          <a:p>
            <a:r>
              <a:t>- 이런 결과가 계속 쌓이면 누가 불편해질까요?</a:t>
            </a:r>
          </a:p>
          <a:p>
            <a:r>
              <a:t>  · 그 직업을 꿈꾸는 친구들이 자기 자리가 아니라고 느낄 수 있습니다.</a:t>
            </a:r>
          </a:p>
          <a:p/>
          <a:p>
            <a:r>
              <a:t>준비물·유의점</a:t>
            </a:r>
          </a:p>
          <a:p>
            <a:r>
              <a:t>★ 편향 관찰 카드</a:t>
            </a:r>
          </a:p>
          <a:p>
            <a:r>
              <a:t>★ 웹앱 편향 관찰 갤러리</a:t>
            </a:r>
          </a:p>
          <a:p>
            <a:r>
              <a:t>△ 결과를 비웃는 분위기가 되지 않도록 지도</a:t>
            </a:r>
          </a:p>
          <a:p>
            <a:r>
              <a:t>△ 원인을 사람과 데이터로 되돌리는 발문에 집중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사례별 학생 설명 문장을 모아 학급 화면으로 띄우기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학생이 직접 이미지 생성 도구를 다루지 않는다. 교사 시연으로 한다.</a:t>
            </a:r>
          </a:p>
          <a:p>
            <a:r>
              <a:t>특정 성별·직업·나라를 비하하는 표현이 나오지 않게 사전 확인한다.</a:t>
            </a:r>
          </a:p>
          <a:p>
            <a:r>
              <a:t>결과를 비웃는 분위기가 되지 않게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AI의 편견은 어디에서 왔나요?</a:t>
            </a:r>
          </a:p>
          <a:p>
            <a:r>
              <a:t>  · 사람이 모은 데이터에서 왔습니다. 그래서 사람이 고칠 수도 있습니다.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‘AI는 나쁘다’가 아니라 ‘사람이 고칠 수 있다’로 마무리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AI에 넣어도 되는 정보를 가려 봅시다.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‘AI는 나쁘다’가 아니라 ‘사람이 고칠 수 있다’로 마무리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3차시  ·  모듈1 WISE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AI도 편견을 가질까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AI의 결과에 담긴 치우침을 찾고, 그 까닭을 데이터에서 찾아봅시다.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AI의 결과에 담긴 치우침을 찾고, 그 까닭을 데이터에서 찾아봅시다.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‘의사’와 ‘간호사’를 그려 달라고 했더니 이런 그림이 나왔습니다. 무엇이 보이나요?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AI는 왜 이렇게 그렸을까요?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1] 편향 사례 관찰하기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그림과 번역 결과를 보고 치우쳐 보이는 곳에 표시해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번역기에서 성별이 없는 말을 옮기면 어떻게 되나요?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2] 원인을 데이터에서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1차시에서 데이터를 줄였을 때 무슨 일이 있었는지 떠올려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그렇다면 이 편향의 원인은 무엇일까요?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3] 누가 불편해질까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이런 결과가 계속 쌓이면 누가 불편해질까요?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편향 관찰 갤러리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교사가 올린 편향 사례를 학생이 관찰하고, 치우친 지점과 그 원인을 데이터와 연결해 기록한다.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사례 관찰 화면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치우친 지점 표시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원인 설명 문장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누가 불편해질까 모으기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생성형 도구를 쓰지 않고, 교사가 미리 준비한 편향 사례 인쇄 카드로 동일한 관찰·설명 활동을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AI의 편견은 어디에서 왔나요?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AI에 넣어도 되는 정보를 가려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편향 관찰 갤러리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교사가 올린 편향 사례를 학생이 관찰하고, 치우친 지점과 그 원인을 데이터와 연결해 기록한다.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https://legoschool.github.io/wise-ai/webapp/L03/</a:t>
            </a:r>
          </a:p>
        </p:txBody>
      </p:sp>
      <p:pic>
        <p:nvPicPr>
          <p:cNvPr id="6" name="Picture 5" descr="L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3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3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사례 관찰 화면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2단계 · guess</a:t>
            </a:r>
          </a:p>
        </p:txBody>
      </p:sp>
      <p:pic>
        <p:nvPicPr>
          <p:cNvPr id="4" name="Picture 3" descr="L03_3_gu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치우친 지점 표시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3단계 · draw</a:t>
            </a:r>
          </a:p>
        </p:txBody>
      </p:sp>
      <p:pic>
        <p:nvPicPr>
          <p:cNvPr id="4" name="Picture 3" descr="L03_4_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원인 설명 문장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4단계 · num</a:t>
            </a:r>
          </a:p>
        </p:txBody>
      </p:sp>
      <p:pic>
        <p:nvPicPr>
          <p:cNvPr id="4" name="Picture 3" descr="L03_5_n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누가 불편해질까 모으기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5단계 · store</a:t>
            </a:r>
          </a:p>
        </p:txBody>
      </p:sp>
      <p:pic>
        <p:nvPicPr>
          <p:cNvPr id="4" name="Picture 3" descr="L03_6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store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6단계 · who</a:t>
            </a:r>
          </a:p>
        </p:txBody>
      </p:sp>
      <p:pic>
        <p:nvPicPr>
          <p:cNvPr id="4" name="Picture 3" descr="L03_7_w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who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사례별 학생 설명 문장을 모아 학급 화면으로 띄우기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AI의 편향은 사람이 만든 데이터에서 비롯되며, 사회적 편견을 더 키울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AI가 특정 집단에 불리한 결과를 내지 않는 것이 공정성이다.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